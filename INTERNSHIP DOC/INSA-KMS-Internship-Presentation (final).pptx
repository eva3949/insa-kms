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72" r:id="rId12"/>
    <p:sldId id="268" r:id="rId13"/>
    <p:sldId id="273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B1F3A"/>
                </a:solidFill>
                <a:latin typeface="Calibri"/>
              </a:rPr>
              <a:t>Query latency before and after indexing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Search latency (ms)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835-4768-95EE-BBB954844FF4}"/>
              </c:ext>
            </c:extLst>
          </c:dPt>
          <c:dPt>
            <c:idx val="1"/>
            <c:invertIfNegative val="0"/>
            <c:bubble3D val="0"/>
            <c:spPr>
              <a:solidFill>
                <a:srgbClr val="12B5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835-4768-95EE-BBB954844FF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1F3A"/>
                    </a:solidFill>
                    <a:latin typeface="Arial"/>
                  </a:defRPr>
                </a:pPr>
                <a:endParaRPr lang="en-A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Sequential scan</c:v>
                </c:pt>
                <c:pt idx="1">
                  <c:v>GIN index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320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835-4768-95EE-BBB954844F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9049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My name is Samuel Tenkir. I carried out my 45-day industrial internship at INSA, Ethiopia's national cybersecurity agency, where I engineered an enterprise Knowledge Management System called INSA-KMS.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will move from the organizational context, to the problem, to the engineered solution, then results and personal reflection.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INSA defends telecoms, banking, power, aviation and e-government systems. I was placed in the Software R&amp;D and Cybersecurity Infrastructure Directorate.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weaknesses were the formal justification for the project. Every design decision that follows maps back to one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internship had academic, professional and technical objectives, formalised as seven concrete deliverables — all seven were delivered.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Presentation, business logic, identity federation and persistence are cleanly decoupled and communicate over standard secure protocols.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dual model matters: a role says what you may do, a clearance says what you may see. Both are enforced at the repository layer, not the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a compromised administrator account cannot rewrite the audit history — that guarantee is enforced at the database grant level, not in application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Synchronous parsing caused thread starvation and 504 timeouts on large PDFs. Decoupling plus GIN indexing took search from roughly 320 milliseconds to under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here is self-reported: every figure is backed by a test suite, a scan report or a live demonstration given at the Friday sprint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problem, I did not just guess. I checked things step by step until I found the real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in the curriculum was wasted — but the internship showed that theory only becomes engineering under real security and performance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biggest change in me: I used to think of security as something to add later. Now I think about it from the very start of every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constructive, not critical. The placement itself set a gold standard for what industrial training should offer.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attention. I am happy to take questions on the architecture, the security model or the verification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slow">
    <p:randomBar dir="vert"/>
  </p:transition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6305C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480560"/>
            <a:ext cx="2377440" cy="2377440"/>
          </a:xfrm>
          <a:prstGeom prst="ellipse">
            <a:avLst/>
          </a:prstGeom>
          <a:solidFill>
            <a:srgbClr val="1630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960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2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INTERNSHIP REPORT  •  ADAMA SCIENCE AND TECHNOLOGY UNIVERSITY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6304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Implementation of an Enterprise Knowledge Management System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71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300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INSA-KMS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9476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Organization: Information Network Security Administration (INSA), Addis Ababa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43484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Tenkir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UGR/35343/16  |  Department of Software Engineering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Supervisor: Gudissa (INSA)   |   Academic Advisor: Megersa Daraje (CSE, ASTU)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Working Days  |  July 07 – September 04, 2026</a:t>
            </a:r>
            <a:endParaRPr lang="en-US" sz="1250" dirty="0"/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ellipse">
            <a:avLst/>
          </a:prstGeom>
          <a:solidFill>
            <a:srgbClr val="12B5C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636776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4650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B5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184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Organization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947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INSA's mandate, directorates and services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578608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68833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B5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560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8895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institutional knowledge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52044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63016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B5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5021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831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INSA-KMS architecture and subsystems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4462272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457200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B5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4439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Verification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773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Deliverables, testing and performance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5404104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551383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B5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538581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learning and recommendations</a:t>
            </a:r>
            <a:endParaRPr lang="en-US" sz="1250" dirty="0"/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ellipse">
            <a:avLst/>
          </a:prstGeom>
          <a:solidFill>
            <a:srgbClr val="12B5C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ORGANIZATION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Network Security Administration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 is Ethiopia's national cybersecurity agency. It protects the country's important digital systems, such as banks, power, and government services, from cyber attacks.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4F7FC"/>
          </a:solidFill>
          <a:ln/>
          <a:effectLst>
            <a:outerShdw blurRad="1016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2441448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Operations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07208"/>
            <a:ext cx="2916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EthioCERT: 24/7 national monitoring, early warning and incident containment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70248" y="224028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4F7FC"/>
          </a:solidFill>
          <a:ln/>
          <a:effectLst>
            <a:outerShdw blurRad="1016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26280" y="2441448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Engineering &amp; PKI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807208"/>
            <a:ext cx="2916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00"/>
              </a:lnSpc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Ethiopia's digital security certificates and secure hardware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91856" y="224028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E4F4F7"/>
          </a:solidFill>
          <a:ln/>
          <a:effectLst>
            <a:outerShdw blurRad="1016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47888" y="2441448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R&amp;D &amp; Systems Engineering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47888" y="2807208"/>
            <a:ext cx="2916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platforms — the directorate that hosted this internship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4F7FC"/>
          </a:solidFill>
          <a:ln/>
          <a:effectLst>
            <a:outerShdw blurRad="1016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04672" y="4544568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4910328"/>
            <a:ext cx="2916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00"/>
              </a:lnSpc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Investigates cyber crimes and security breaches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70248" y="434340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4F7FC"/>
          </a:solidFill>
          <a:ln/>
          <a:effectLst>
            <a:outerShdw blurRad="1016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526280" y="4544568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Risk &amp; Compliance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4910328"/>
            <a:ext cx="2916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00"/>
              </a:lnSpc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that systems follow international security rules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1856" y="434340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4F7FC"/>
          </a:solidFill>
          <a:ln/>
          <a:effectLst>
            <a:outerShdw blurRad="1016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47888" y="4544568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47888" y="4910328"/>
            <a:ext cx="2916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interest, integrity, vigilance, innovation, collaboration</a:t>
            </a:r>
            <a:endParaRPr lang="en-US" sz="1250" dirty="0"/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knowledge was fragmented, ungoverned and unauditable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1630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41832" y="22768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storage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660904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scattered across local drives, SMB shares, email threads and chat tools.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205740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1630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45152" y="22768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was lost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45152" y="2660904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expertise lost permanently when specialists were reassigned or exited.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92440" y="205740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1630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48472" y="22768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find files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48472" y="2660904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Locating one advisory took days; teams duplicated complex analytical work.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20624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1630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256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control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41832" y="4809744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file permissions could not enforce national clearance levels.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89120" y="420624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1630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45152" y="44256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access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645152" y="4809744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verifiable record of who accessed, modified or shared classified files.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92440" y="420624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1630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48472" y="44256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meetings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48472" y="4809744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discussions held over external, unencrypted platforms.</a:t>
            </a:r>
            <a:endParaRPr lang="en-US" sz="1250" dirty="0"/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ellipse">
            <a:avLst/>
          </a:prstGeom>
          <a:solidFill>
            <a:srgbClr val="12B5C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Internship Aimed to 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4F7FC"/>
          </a:solidFill>
          <a:ln/>
          <a:effectLst>
            <a:outerShdw blurRad="1016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09928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07568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00"/>
              </a:lnSpc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my university lessons — coding design, databases, and security — in a real company project.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50876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4F7FC"/>
          </a:solidFill>
          <a:ln/>
          <a:effectLst>
            <a:outerShdw blurRad="1016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90872" y="1709928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90872" y="2075688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engineering ethics, Agile Scrum teamwork and adherence to national cybersecurity compliance standards.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321040" y="1508760"/>
            <a:ext cx="3291840" cy="1965960"/>
          </a:xfrm>
          <a:prstGeom prst="roundRect">
            <a:avLst>
              <a:gd name="adj" fmla="val 2791"/>
            </a:avLst>
          </a:prstGeom>
          <a:solidFill>
            <a:srgbClr val="F4F7FC"/>
          </a:solidFill>
          <a:ln/>
          <a:effectLst>
            <a:outerShdw blurRad="1016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577072" y="1709928"/>
            <a:ext cx="2779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577072" y="2075688"/>
            <a:ext cx="2779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00"/>
              </a:lnSpc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a complete, working Knowledge Management System.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contracted deliverables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160520"/>
            <a:ext cx="1088136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  Hardened Spring Boot 3.3 REST API (OAuth2 resource server), A secure backend server that handles all data safely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D-2  Next.js 14 portal with document explorer and PDF.js preview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D-3  Keycloak kms-realm with OIDC clients and 7 RBAC roles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D-4  A search tool that reads inside documents and finds text fast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D-5  A private, secure video-call system for meetings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D-6  Tamper-evident Spring AOP audit logging , </a:t>
            </a: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a complete, working Knowledge Management System.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D-7  20 JUnit integration tests + live runtime verification</a:t>
            </a:r>
            <a:endParaRPr lang="en-US" sz="1350" dirty="0"/>
          </a:p>
        </p:txBody>
      </p: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ellipse">
            <a:avLst/>
          </a:prstGeom>
          <a:solidFill>
            <a:srgbClr val="12B5C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Enterprise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353312"/>
          </a:xfrm>
          <a:prstGeom prst="roundRect">
            <a:avLst>
              <a:gd name="adj" fmla="val 3378"/>
            </a:avLst>
          </a:prstGeom>
          <a:solidFill>
            <a:srgbClr val="EAF6F8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984248"/>
            <a:ext cx="502920" cy="502920"/>
          </a:xfrm>
          <a:prstGeom prst="ellipse">
            <a:avLst/>
          </a:prstGeom>
          <a:solidFill>
            <a:srgbClr val="12B5C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848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901952"/>
            <a:ext cx="40690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Tier ( What Users See</a:t>
            </a:r>
            <a:r>
              <a:rPr lang="en-US" sz="1600" dirty="0"/>
              <a:t>)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600200" y="21579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· React 18 · TypeScript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82880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00"/>
              </a:lnSpc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fast website where staff view and search documents, built with modern web tools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2944368"/>
            <a:ext cx="274320" cy="146304"/>
          </a:xfrm>
          <a:prstGeom prst="downArrow">
            <a:avLst/>
          </a:prstGeom>
          <a:solidFill>
            <a:srgbClr val="B9C4D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127248"/>
            <a:ext cx="11064240" cy="1353312"/>
          </a:xfrm>
          <a:prstGeom prst="roundRect">
            <a:avLst>
              <a:gd name="adj" fmla="val 3378"/>
            </a:avLst>
          </a:prstGeom>
          <a:solidFill>
            <a:srgbClr val="F4F7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557016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6576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3467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Tier (The Brain)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730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, the server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3401568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00"/>
              </a:lnSpc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requests, checks logins, and enforces the security rules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0" y="4517136"/>
            <a:ext cx="274320" cy="146304"/>
          </a:xfrm>
          <a:prstGeom prst="downArrow">
            <a:avLst/>
          </a:prstGeom>
          <a:solidFill>
            <a:srgbClr val="B9C4D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700016"/>
            <a:ext cx="11064240" cy="1353312"/>
          </a:xfrm>
          <a:prstGeom prst="roundRect">
            <a:avLst>
              <a:gd name="adj" fmla="val 3378"/>
            </a:avLst>
          </a:prstGeom>
          <a:solidFill>
            <a:srgbClr val="F4F7FC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5129784"/>
            <a:ext cx="502920" cy="502920"/>
          </a:xfrm>
          <a:prstGeom prst="ellipse">
            <a:avLst/>
          </a:prstGeom>
          <a:solidFill>
            <a:srgbClr val="1630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230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919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Data Lives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303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· Object Storage · Prosody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0" y="4974336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00"/>
              </a:lnSpc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documents, search data, and video calls safe and fast to reach</a:t>
            </a:r>
            <a:endParaRPr lang="en-US" sz="1250" dirty="0"/>
          </a:p>
        </p:txBody>
      </p:sp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ellipse">
            <a:avLst/>
          </a:prstGeom>
          <a:solidFill>
            <a:srgbClr val="12B5C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Subsystem 1 — Secure Login and Access Rules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 is ever stored in our own database. A separate, trusted login system called </a:t>
            </a:r>
            <a:r>
              <a:rPr lang="en-US" sz="13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checks every user's identity.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233236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Authorization Code Flow</a:t>
            </a:r>
          </a:p>
          <a:p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login works, step by step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tries to open a page and is sent to the login system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enter their username and password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login system gives back a secure, signed digital ticket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server checks that the ticket is real and not expired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 tells the server what the user is allowed to do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2103120"/>
            <a:ext cx="5212080" cy="1417320"/>
          </a:xfrm>
          <a:prstGeom prst="roundRect">
            <a:avLst>
              <a:gd name="adj" fmla="val 3871"/>
            </a:avLst>
          </a:prstGeom>
          <a:solidFill>
            <a:srgbClr val="F4F7FC"/>
          </a:solidFill>
          <a:ln/>
          <a:effectLst>
            <a:outerShdw blurRad="1016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56832" y="2304288"/>
            <a:ext cx="4700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staff roles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56832" y="2670048"/>
            <a:ext cx="4700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SUPER_ADMIN · ADMIN · CONTENT_OWNER · CONTRIBUTOR · VIEWER · COMPLIANCE_OFFICER · IT_SECURITY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0" y="3703320"/>
            <a:ext cx="5212080" cy="1737360"/>
          </a:xfrm>
          <a:prstGeom prst="roundRect">
            <a:avLst>
              <a:gd name="adj" fmla="val 3158"/>
            </a:avLst>
          </a:prstGeom>
          <a:solidFill>
            <a:srgbClr val="EAF6F8"/>
          </a:solidFill>
          <a:ln/>
          <a:effectLst>
            <a:outerShdw blurRad="1016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656832" y="3904488"/>
            <a:ext cx="4700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document security levels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656832" y="4270248"/>
            <a:ext cx="4700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00"/>
              </a:lnSpc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· Internal · Confidential · Restricted</a:t>
            </a:r>
            <a:endParaRPr lang="en-US" sz="1250" dirty="0"/>
          </a:p>
          <a:p>
            <a:pPr>
              <a:lnSpc>
                <a:spcPts val="1700"/>
              </a:lnSpc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can only open a file if their role AND their clearance level are both high enough. The most secret files need a second login and cannot be downloaded.</a:t>
            </a:r>
            <a:endParaRPr lang="en-US" sz="1250" dirty="0"/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ellipse">
            <a:avLst/>
          </a:prstGeom>
          <a:solidFill>
            <a:srgbClr val="12B5C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Subsystem 2 — Safe Document Storage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F4F7FC"/>
          </a:solidFill>
          <a:ln/>
          <a:effectLst>
            <a:outerShdw blurRad="1016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55648"/>
            <a:ext cx="4882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entities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121408"/>
            <a:ext cx="4882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update creates an immutable DocumentVersion row capturing version number, MIME type, size, uploader, timestamp and change summary.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F4F7FC"/>
          </a:solidFill>
          <a:ln/>
          <a:effectLst>
            <a:outerShdw blurRad="1016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73952" y="1755648"/>
            <a:ext cx="4882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integrity (Tamper checking)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2121408"/>
            <a:ext cx="4882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00"/>
              </a:lnSpc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gets a unique digital fingerprint when uploaded. Before download, we check the fingerprint still matches — this catches any changes.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F4F7FC"/>
          </a:solidFill>
          <a:ln/>
          <a:effectLst>
            <a:outerShdw blurRad="1016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4672" y="3904488"/>
            <a:ext cx="4882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check-out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4270248"/>
            <a:ext cx="4882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00"/>
              </a:lnSpc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someone is editing a file, others can view it but cannot upload changes at the same time. This stops people overwriting each other's work.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370332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EAF6F8"/>
          </a:solidFill>
          <a:ln/>
          <a:effectLst>
            <a:outerShdw blurRad="1016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73952" y="3904488"/>
            <a:ext cx="4882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activity log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73952" y="4270248"/>
            <a:ext cx="4882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00"/>
              </a:lnSpc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— upload, view, edit, delete — is written to a log that no one, not even an admin, can edit or erase.</a:t>
            </a:r>
            <a:endParaRPr lang="en-US" sz="1250" dirty="0"/>
          </a:p>
        </p:txBody>
      </p:sp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ellipse">
            <a:avLst/>
          </a:prstGeom>
          <a:solidFill>
            <a:srgbClr val="12B5C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Subsystem 3 — Asynchronous Ingestion and Full-Text Search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34999"/>
            <a:ext cx="56692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file is uploaded, it appears right away — reading its text happens in the background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Tika AutoDetectParser extracts text from PDF, DOCX, XLSX, PPTX, ODT, HTML, TXT, A tool automatically reads the text inside PDF, Word, Excel and other file types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lexical analysis strips stop-words and stems tokens into a </a:t>
            </a:r>
            <a:r>
              <a:rPr lang="en-US" sz="13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tsvector</a:t>
            </a: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column, The database breaks the text into searchable words and saves them efficiently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GIN index replaces sequential scans; ts_rank_cd ranks results and ts_headline highlights matches</a:t>
            </a:r>
            <a:endParaRPr lang="en-US" sz="13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0" y="1600200"/>
          <a:ext cx="52120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94360" y="43434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900"/>
              </a:lnSpc>
            </a:pPr>
            <a:r>
              <a:rPr lang="en-US" sz="13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now finds results in under a second, anywhere in the whole document collection.</a:t>
            </a:r>
            <a:endParaRPr lang="en-US" sz="1300" dirty="0"/>
          </a:p>
        </p:txBody>
      </p:sp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14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Delivered, tested and demonstrated in 45 working days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48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2B5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8986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– September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2148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2B5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8986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accepted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2148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2B5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20/20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166360" y="28986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Mockito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2148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2B5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&lt;15 ms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28986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46920" y="2148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2B5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28986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tables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schema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methodology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389120"/>
            <a:ext cx="106984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PowerShell integration runs across live Keycloak, Spring Boot and PostgreSQL containers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testing of the secure video-call connection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security scans to check for common coding weaknesses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documentation written so the system can be set up and run by others</a:t>
            </a:r>
            <a:endParaRPr lang="en-US" sz="1350" dirty="0"/>
          </a:p>
        </p:txBody>
      </p:sp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ellipse">
            <a:avLst/>
          </a:prstGeom>
          <a:solidFill>
            <a:srgbClr val="12B5C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and How They Were Resolved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4348"/>
            </a:avLst>
          </a:prstGeom>
          <a:solidFill>
            <a:srgbClr val="EA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0078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system errors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1737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login system kept rejecting valid users with confusing errors.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543800" y="1737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studied the documentation closely and wrote custom code to correctly read user roles.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79776"/>
            <a:ext cx="11064240" cy="1051560"/>
          </a:xfrm>
          <a:prstGeom prst="roundRect">
            <a:avLst>
              <a:gd name="adj" fmla="val 4348"/>
            </a:avLst>
          </a:prstGeom>
          <a:solidFill>
            <a:srgbClr val="F4F7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926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call errors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296265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video system blocked valid users and leaked secure passes into web links.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296265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read the video server's own code to find the exact fix, and hid the passes properly.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05072"/>
            <a:ext cx="11064240" cy="1051560"/>
          </a:xfrm>
          <a:prstGeom prst="roundRect">
            <a:avLst>
              <a:gd name="adj" fmla="val 4348"/>
            </a:avLst>
          </a:prstGeom>
          <a:solidFill>
            <a:srgbClr val="EAF6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151376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under load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418795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files made the whole website freeze while it read their text.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543800" y="418795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moved that work to the background and sped up search over 20 times.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230368"/>
            <a:ext cx="11064240" cy="1051560"/>
          </a:xfrm>
          <a:prstGeom prst="roundRect">
            <a:avLst>
              <a:gd name="adj" fmla="val 4348"/>
            </a:avLst>
          </a:prstGeom>
          <a:solidFill>
            <a:srgbClr val="F4F7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37667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45-day deadline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794760" y="54132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connected parts to build, test, and document — with little time.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54132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planned daily, worked on the most important security parts first, and stayed organised.</a:t>
            </a:r>
            <a:endParaRPr lang="en-US" sz="1200" dirty="0"/>
          </a:p>
        </p:txBody>
      </p:sp>
    </p:spTree>
  </p:cSld>
  <p:clrMapOvr>
    <a:masterClrMapping/>
  </p:clrMapOvr>
  <p:transition spd="slow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ellipse">
            <a:avLst/>
          </a:prstGeom>
          <a:solidFill>
            <a:srgbClr val="12B5C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TRANSFER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ASTU Coursework to Industrial Practice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4572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27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 Course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1627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Learned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6276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at INSA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11064240" cy="10607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2128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Algorithms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22128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indexing, hashing, complexity analysis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21284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this to build a fast search system and check file security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27248"/>
            <a:ext cx="11064240" cy="10607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32841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32841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algebra, 3NF, ACID, B-trees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332841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18-table normalised schema and configured transactional isolation levels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42816"/>
            <a:ext cx="11064240" cy="10607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44398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&amp; Design Patterns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444398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IoC, DI, Repository, Factory, DTO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444398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Spring services, DTO-decoupled APIs, aspect-oriented audit logging, Used this to build the server in small, manageable, well-tested parts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358384"/>
            <a:ext cx="11064240" cy="106070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55955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55595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TCP/IP, TLS, HTTP, WebSocket, XMPP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555955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this to build secure logins and the private video-call system</a:t>
            </a:r>
            <a:endParaRPr lang="en-US" sz="1200" dirty="0"/>
          </a:p>
        </p:txBody>
      </p:sp>
    </p:spTree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ellipse">
            <a:avLst/>
          </a:prstGeom>
          <a:solidFill>
            <a:srgbClr val="12B5C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 About Myself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66160" cy="3703320"/>
          </a:xfrm>
          <a:prstGeom prst="roundRect">
            <a:avLst>
              <a:gd name="adj" fmla="val 1538"/>
            </a:avLst>
          </a:prstGeom>
          <a:solidFill>
            <a:srgbClr val="F4F7FC"/>
          </a:solidFill>
          <a:ln/>
          <a:effectLst>
            <a:outerShdw blurRad="1016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5564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I gained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121408"/>
            <a:ext cx="305409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security-first in every decision · solving problems step by step instead of guessing · reading technical documents on my own · explaining technical ideas clearly to others · being on time and organized every day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66160" cy="3703320"/>
          </a:xfrm>
          <a:prstGeom prst="roundRect">
            <a:avLst>
              <a:gd name="adj" fmla="val 1538"/>
            </a:avLst>
          </a:prstGeom>
          <a:solidFill>
            <a:srgbClr val="EAF6F8"/>
          </a:solidFill>
          <a:ln/>
          <a:effectLst>
            <a:outerShdw blurRad="1016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99432" y="1755648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want to improve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121408"/>
            <a:ext cx="305409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websites look and feel more polished · handling very large-scale systems with many users · learning advanced tools for managing many servers at once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474720" cy="3703320"/>
          </a:xfrm>
          <a:prstGeom prst="roundRect">
            <a:avLst>
              <a:gd name="adj" fmla="val 1579"/>
            </a:avLst>
          </a:prstGeom>
          <a:solidFill>
            <a:srgbClr val="F4F7FC"/>
          </a:solidFill>
          <a:ln/>
          <a:effectLst>
            <a:outerShdw blurRad="1016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94192" y="1755648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I'm headed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394192" y="2121408"/>
            <a:ext cx="29626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now want to focus on building secure systems, not just any software · I care about building local, independent technology for Ethiopia · I plan to study Cybersecurity further after graduating</a:t>
            </a:r>
            <a:endParaRPr lang="en-US" sz="1250" dirty="0"/>
          </a:p>
        </p:txBody>
      </p:sp>
    </p:spTree>
  </p:cSld>
  <p:clrMapOvr>
    <a:masterClrMapping/>
  </p:clrMapOvr>
  <p:transition spd="slow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164592"/>
          </a:xfrm>
          <a:prstGeom prst="ellipse">
            <a:avLst/>
          </a:prstGeom>
          <a:solidFill>
            <a:srgbClr val="12B5C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04672" y="3657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2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FORWARD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ASTU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52120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more about real company tools, not just theory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practical classes on secure logins and modern web security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short training week before internships start, on teamwork tools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INSA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65960"/>
            <a:ext cx="52120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coding setup ready before interns arrive, to save time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interns from different teams show their projects to each other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hiring the best interns after graduation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AF6F8"/>
          </a:solidFill>
          <a:ln/>
          <a:effectLst>
            <a:outerShdw blurRad="101600" dist="127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04672" y="4361688"/>
            <a:ext cx="10552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ASTU continue placing students at INSA?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4727448"/>
            <a:ext cx="10552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00"/>
              </a:lnSpc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without question. Interns are trusted with real, important work, get great mentors, and leave with strong skills and discipline.</a:t>
            </a:r>
            <a:endParaRPr lang="en-US" sz="1250" dirty="0"/>
          </a:p>
        </p:txBody>
      </p:sp>
    </p:spTree>
  </p:cSld>
  <p:clrMapOvr>
    <a:masterClrMapping/>
  </p:clrMapOvr>
  <p:transition spd="slow"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4023360"/>
            <a:ext cx="4206240" cy="4206240"/>
          </a:xfrm>
          <a:prstGeom prst="ellipse">
            <a:avLst/>
          </a:prstGeom>
          <a:solidFill>
            <a:srgbClr val="16305C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188720"/>
            <a:ext cx="3291840" cy="3291840"/>
          </a:xfrm>
          <a:prstGeom prst="ellipse">
            <a:avLst/>
          </a:prstGeom>
          <a:solidFill>
            <a:srgbClr val="1630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94560"/>
            <a:ext cx="9509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INSA-KMS resolves institutional knowledge fragmentation with sub-second governed retrieval, dual-layer access control, sovereign encrypted collaboration and tamper-evident audit trails — transforming ASTU classroom theory into a production-verified national platform.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023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|  Questions are welcome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663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Tenkir  ·  UGR/35343/16  ·  Department of Software Engineering, ASTU</a:t>
            </a:r>
            <a:endParaRPr lang="en-US" sz="1300" dirty="0"/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1989</Words>
  <Application>Microsoft Office PowerPoint</Application>
  <PresentationFormat>Widescreen</PresentationFormat>
  <Paragraphs>224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SAMUEL TENKIR</cp:lastModifiedBy>
  <cp:revision>8</cp:revision>
  <dcterms:created xsi:type="dcterms:W3CDTF">2026-09-21T17:29:13Z</dcterms:created>
  <dcterms:modified xsi:type="dcterms:W3CDTF">2026-09-21T18:40:53Z</dcterms:modified>
</cp:coreProperties>
</file>